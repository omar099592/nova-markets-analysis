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37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A2373"/>
                </a:solidFill>
                <a:latin typeface="Calibri"/>
              </a:rPr>
              <a:t>Profit by Category — Best vs. Worst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(SAR)</c:v>
                </c:pt>
              </c:strCache>
            </c:strRef>
          </c:tx>
          <c:spPr>
            <a:solidFill>
              <a:srgbClr val="0D34E9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3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Sports &amp; Outdoors</c:v>
                  </c:pt>
                  <c:pt idx="1">
                    <c:v>Toys &amp; Games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12000000</c:v>
                </c:pt>
                <c:pt idx="1">
                  <c:v>5000000</c:v>
                </c:pt>
              </c:numCache>
            </c:numRef>
          </c:val>
        </c:ser>
        <c:dLbls>
          <c:numFmt formatCode="#,##0,,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A23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37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A2373"/>
                </a:solidFill>
                <a:latin typeface="Calibri"/>
              </a:rPr>
              <a:t>Highest vs. Lowest Performing Branches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(SAR)</c:v>
                </c:pt>
              </c:strCache>
            </c:strRef>
          </c:tx>
          <c:spPr>
            <a:solidFill>
              <a:srgbClr val="0A2373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23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Khobar Branch</c:v>
                  </c:pt>
                  <c:pt idx="1">
                    <c:v>Riyadh Airport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12300000</c:v>
                </c:pt>
                <c:pt idx="1">
                  <c:v>11600000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(SAR)</c:v>
                </c:pt>
              </c:strCache>
            </c:strRef>
          </c:tx>
          <c:spPr>
            <a:solidFill>
              <a:srgbClr val="0D34E9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23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Khobar Branch</c:v>
                  </c:pt>
                  <c:pt idx="1">
                    <c:v>Riyadh Airport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4050000</c:v>
                </c:pt>
                <c:pt idx="1">
                  <c:v>3800000</c:v>
                </c:pt>
              </c:numCache>
            </c:numRef>
          </c:val>
        </c:ser>
        <c:dLbls>
          <c:numFmt formatCode="#,##0,,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A23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3A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37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A2373"/>
                </a:solidFill>
                <a:latin typeface="Calibri"/>
              </a:rPr>
              <a:t>Lowest vs. Highest Sales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(SAR)</c:v>
                </c:pt>
              </c:strCache>
            </c:strRef>
          </c:tx>
          <c:spPr>
            <a:solidFill>
              <a:srgbClr val="0A2373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3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January 2023
(Lowest)</c:v>
                  </c:pt>
                  <c:pt idx="1">
                    <c:v>July 2025
(Highest)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145000</c:v>
                </c:pt>
                <c:pt idx="1">
                  <c:v>11000000</c:v>
                </c:pt>
              </c:numCache>
            </c:numRef>
          </c:val>
        </c:ser>
        <c:dLbls>
          <c:numFmt formatCode="#,##0,,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A23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846320"/>
            <a:ext cx="2926080" cy="292608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85800" cy="685800"/>
          </a:xfrm>
          <a:prstGeom prst="ellipse">
            <a:avLst/>
          </a:prstGeom>
          <a:solidFill>
            <a:srgbClr val="0D34E9"/>
          </a:solidFill>
          <a:ln/>
        </p:spPr>
      </p:sp>
      <p:pic>
        <p:nvPicPr>
          <p:cNvPr id="5" name="Image 0" descr="icons/c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9555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731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64208" y="1225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D3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MARKETS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Performance &amp;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Analysis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" y="4892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239.4M SAR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5330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0" y="4892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79.4M SAR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66160" y="5330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4892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09360" y="5330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052560" y="4892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052560" y="5330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Data &amp; Analytics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overall business health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6" name="Image 0" descr="icons/chartli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91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239.4M SAR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" y="2871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34640" y="155448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35808" y="1755648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11" name="Image 1" descr="icons/c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454" y="189829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5808" y="23591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79.4M SAR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035808" y="2871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20640" y="155448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21808" y="1755648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16" name="Image 2" descr="icons/perce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454" y="189829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23591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5321808" y="2871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06640" y="155448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07808" y="1755648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21" name="Image 3" descr="icons/gau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454" y="189829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7808" y="23591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1,995 SAR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607808" y="2871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692640" y="155448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93808" y="1755648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26" name="Image 4" descr="icons/troph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454" y="189829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93808" y="23591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9893808" y="2871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 Rate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3703320"/>
            <a:ext cx="112288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6868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68680" y="4343400"/>
            <a:ext cx="10588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achieved strong profitability with a healthy 33% profit margin while maintaining a high order completion rate. The average customer order value indicates strong purchasing power across the customer base.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 shows where the real margin comes from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754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86600" y="1783080"/>
            <a:ext cx="502920" cy="50292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7" name="Image 0" descr="icons/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359" y="19138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— 34.7%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26680" y="21214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Personal Care, Books &amp; Stationery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858000" y="3246120"/>
            <a:ext cx="4754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86600" y="3474720"/>
            <a:ext cx="502920" cy="502920"/>
          </a:xfrm>
          <a:prstGeom prst="ellipse">
            <a:avLst/>
          </a:prstGeom>
          <a:solidFill>
            <a:srgbClr val="0D34E9"/>
          </a:solidFill>
          <a:ln/>
        </p:spPr>
      </p:sp>
      <p:pic>
        <p:nvPicPr>
          <p:cNvPr id="12" name="Image 1" descr="icons/dow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360547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266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Margin — 31.1%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26680" y="38130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 &amp; Games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0" y="4937760"/>
            <a:ext cx="4754880" cy="822960"/>
          </a:xfrm>
          <a:prstGeom prst="roundRect">
            <a:avLst>
              <a:gd name="adj" fmla="val 13333"/>
            </a:avLst>
          </a:prstGeom>
          <a:solidFill>
            <a:srgbClr val="0A2373"/>
          </a:solidFill>
          <a:ln/>
        </p:spPr>
      </p:sp>
      <p:sp>
        <p:nvSpPr>
          <p:cNvPr id="16" name="Text 11"/>
          <p:cNvSpPr/>
          <p:nvPr/>
        </p:nvSpPr>
        <p:spPr>
          <a:xfrm>
            <a:off x="7086600" y="5074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stayed relatively stable across categories, even as revenue varied.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comparison: revenue and profit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0A2373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0" y="1783080"/>
            <a:ext cx="548640" cy="548640"/>
          </a:xfrm>
          <a:prstGeom prst="ellipse">
            <a:avLst/>
          </a:prstGeom>
          <a:solidFill>
            <a:srgbClr val="0D34E9"/>
          </a:solidFill>
          <a:ln/>
        </p:spPr>
      </p:sp>
      <p:pic>
        <p:nvPicPr>
          <p:cNvPr id="7" name="Image 0" descr="icons/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66" y="192572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Khobar Branch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46720" y="27614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— leads in both revenue and profit. A strong benchmark for other locations.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772400" y="3794760"/>
            <a:ext cx="3840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0" y="4023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branches is relatively balanced overall — no single store is significantly underperforming.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pay off?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6" name="Image 0" descr="icons/dow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did not generate higher sales volume.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3017520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10" name="Image 1" descr="icons/perce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31601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535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discounts reduced overall profitability.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4160520"/>
            <a:ext cx="548640" cy="548640"/>
          </a:xfrm>
          <a:prstGeom prst="ellipse">
            <a:avLst/>
          </a:prstGeom>
          <a:solidFill>
            <a:srgbClr val="0A2373"/>
          </a:solidFill>
          <a:ln/>
        </p:spPr>
      </p:sp>
      <p:pic>
        <p:nvPicPr>
          <p:cNvPr id="14" name="Image 2" descr="icons/chartarea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43031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0965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discount campaigns are not delivering sufficient business value.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321040" y="1691640"/>
            <a:ext cx="3383280" cy="4160520"/>
          </a:xfrm>
          <a:prstGeom prst="roundRect">
            <a:avLst>
              <a:gd name="adj" fmla="val 3243"/>
            </a:avLst>
          </a:prstGeom>
          <a:solidFill>
            <a:srgbClr val="0A2373"/>
          </a:solidFill>
          <a:ln/>
        </p:spPr>
      </p:sp>
      <p:sp>
        <p:nvSpPr>
          <p:cNvPr id="17" name="Shape 12"/>
          <p:cNvSpPr/>
          <p:nvPr/>
        </p:nvSpPr>
        <p:spPr>
          <a:xfrm>
            <a:off x="8595360" y="1965960"/>
            <a:ext cx="640080" cy="640080"/>
          </a:xfrm>
          <a:prstGeom prst="ellipse">
            <a:avLst/>
          </a:prstGeom>
          <a:solidFill>
            <a:srgbClr val="0D34E9"/>
          </a:solidFill>
          <a:ln/>
        </p:spPr>
      </p:sp>
      <p:pic>
        <p:nvPicPr>
          <p:cNvPr id="18" name="Image 3" descr="icons/bulb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781" y="21323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53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595360" y="31546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broad discounts with targeted promotions based on customer behavior, product category, or seasonal campaigns to protect profit margins.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based on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D34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enough inventory for high-performing categories such as Sports &amp; Outdoors.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828800"/>
            <a:ext cx="502920" cy="50292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74650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low-performing categories by reviewing pricing and marketing strategies.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38728"/>
            <a:ext cx="502920" cy="50292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456432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targeted discounts for specific customer groups or products instead of offering discounts to everyone.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310128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538728"/>
            <a:ext cx="502920" cy="502920"/>
          </a:xfrm>
          <a:prstGeom prst="ellipse">
            <a:avLst/>
          </a:prstGeom>
          <a:solidFill>
            <a:srgbClr val="0D34E9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3456432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inventory, schedule additional staff, and plan marketing campaigns before the July–December peak season.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20056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48656"/>
            <a:ext cx="502920" cy="50292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Khobar Branch as a benchmark for other stores by applying its successful practices where possible.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5020056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5248656"/>
            <a:ext cx="502920" cy="50292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51663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monthly sales trends to quickly adjust inventory, staffing, and promotions.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growth with a clear seasonal peak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40880" y="2130552"/>
            <a:ext cx="109728" cy="109728"/>
          </a:xfrm>
          <a:prstGeom prst="ellipse">
            <a:avLst/>
          </a:prstGeom>
          <a:solidFill>
            <a:srgbClr val="0D34E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9842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reached their highest level in July 2025 (11M SAR).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2999232"/>
            <a:ext cx="109728" cy="109728"/>
          </a:xfrm>
          <a:prstGeom prst="ellipse">
            <a:avLst/>
          </a:prstGeom>
          <a:solidFill>
            <a:srgbClr val="0D34E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852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2023 recorded the lowest sales (145K SAR).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3867912"/>
            <a:ext cx="109728" cy="109728"/>
          </a:xfrm>
          <a:prstGeom prst="ellipse">
            <a:avLst/>
          </a:prstGeom>
          <a:solidFill>
            <a:srgbClr val="0D34E9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37216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were strongest between July and December — a clear peak season.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Nova Retail Markets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5440" y="1353312"/>
            <a:ext cx="11100816" cy="6719303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mnt/user-data/uploads/Screenshot_2026-08-01_143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1463040"/>
            <a:ext cx="10881360" cy="64998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 — Data-Driven Growth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120640"/>
            <a:ext cx="3657600" cy="3657600"/>
          </a:xfrm>
          <a:prstGeom prst="ellipse">
            <a:avLst/>
          </a:prstGeom>
          <a:solidFill>
            <a:srgbClr val="0A23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discounts &amp; store-level profitability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5440" y="1353312"/>
            <a:ext cx="11100816" cy="6351237"/>
          </a:xfrm>
          <a:prstGeom prst="roundRect">
            <a:avLst>
              <a:gd name="adj" fmla="val 1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mnt/user-data/uploads/Screenshot_2026-08-01_154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1463040"/>
            <a:ext cx="10881360" cy="61317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Retail Markets — Data-Driven Growth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2026-08-01T13:02:20Z</dcterms:created>
  <dcterms:modified xsi:type="dcterms:W3CDTF">2026-08-01T13:02:20Z</dcterms:modified>
</cp:coreProperties>
</file>